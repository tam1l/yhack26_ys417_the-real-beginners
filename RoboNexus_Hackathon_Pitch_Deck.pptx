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pic>
        <p:nvPicPr>
          <p:cNvPr id="3" name="Picture 2" descr="robot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188720"/>
            <a:ext cx="3017520" cy="6231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087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TITLE: Robotics-Aware Private AI Cloud</a:t>
            </a:r>
          </a:p>
          <a:p>
            <a:pPr>
              <a:spcBef>
                <a:spcPts val="600"/>
              </a:spcBef>
              <a:spcAft>
                <a:spcPts val="2000"/>
              </a:spcAft>
              <a:defRPr sz="1350" b="1">
                <a:solidFill>
                  <a:srgbClr val="B91C1C"/>
                </a:solidFill>
              </a:defRPr>
            </a:pPr>
            <a:r>
              <a:t>RoboNexus: Low-Latency, Edge-Orchestrated AI Infrastructure for Autonomous Industrial Fleets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TEAM NAME: </a:t>
            </a:r>
            <a:r>
              <a:rPr b="1" sz="1350">
                <a:solidFill>
                  <a:srgbClr val="0F172A"/>
                </a:solidFill>
              </a:rPr>
              <a:t>The Real Beginners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TEAM ID: </a:t>
            </a:r>
            <a:r>
              <a:rPr b="1" sz="1350">
                <a:solidFill>
                  <a:srgbClr val="0F172A"/>
                </a:solidFill>
              </a:rPr>
              <a:t>YS417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PS ID : </a:t>
            </a:r>
            <a:r>
              <a:rPr b="1" sz="1350">
                <a:solidFill>
                  <a:srgbClr val="0F172A"/>
                </a:solidFill>
              </a:rPr>
              <a:t>13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DOMAIN : </a:t>
            </a:r>
            <a:r>
              <a:rPr b="1" sz="1350">
                <a:solidFill>
                  <a:srgbClr val="0F172A"/>
                </a:solidFill>
              </a:rPr>
              <a:t>Cloud Robotics &amp; Autonomous Systems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TEAM LEADER NAME: </a:t>
            </a:r>
            <a:r>
              <a:rPr b="1" sz="1350">
                <a:solidFill>
                  <a:srgbClr val="0F172A"/>
                </a:solidFill>
              </a:rPr>
              <a:t>HARISH R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MEMBER-1 NAME: </a:t>
            </a:r>
            <a:r>
              <a:rPr b="1" sz="1350">
                <a:solidFill>
                  <a:srgbClr val="0F172A"/>
                </a:solidFill>
              </a:rPr>
              <a:t>TAMIL SELVAN P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MEMBER-2 NAME: </a:t>
            </a:r>
            <a:r>
              <a:rPr b="1" sz="1350">
                <a:solidFill>
                  <a:srgbClr val="0F172A"/>
                </a:solidFill>
              </a:rPr>
              <a:t>SRI KRISHNA R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MEMBER-3 NAME: </a:t>
            </a:r>
            <a:r>
              <a:rPr b="1" sz="1350">
                <a:solidFill>
                  <a:srgbClr val="0F172A"/>
                </a:solidFill>
              </a:rPr>
              <a:t>SANKAR S R</a:t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MEMBER-4 NAME: </a:t>
            </a:r>
            <a:r>
              <a:rPr b="1" sz="135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b="1" sz="1350">
                <a:solidFill>
                  <a:srgbClr val="B91C1C"/>
                </a:solidFill>
              </a:rPr>
              <a:t>MEMBER-5 NAME: </a:t>
            </a:r>
            <a:r>
              <a:rPr b="1" sz="1350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37160" cy="182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492240"/>
            <a:ext cx="137160" cy="182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6492240"/>
            <a:ext cx="137160" cy="182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6492240"/>
            <a:ext cx="137160" cy="182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Industrial robots need cloud-level AI without public-cloud delay or data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766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B91C1C"/>
                </a:solidFill>
              </a:rPr>
              <a:t>• </a:t>
            </a:r>
            <a:r>
              <a:rPr b="1" sz="1250">
                <a:solidFill>
                  <a:srgbClr val="0F172A"/>
                </a:solidFill>
              </a:rPr>
              <a:t>Onboard Compute Bottleneck: </a:t>
            </a:r>
            <a:r>
              <a:rPr sz="1200">
                <a:solidFill>
                  <a:srgbClr val="334155"/>
                </a:solidFill>
              </a:rPr>
              <a:t>Heavy neural networks on robots increase BOM cost ($1,500+/unit), cause thermal throttling, and drain mobile battery 40% faster.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91C1C"/>
                </a:solidFill>
              </a:rPr>
              <a:t>• </a:t>
            </a:r>
            <a:r>
              <a:rPr b="1" sz="1250">
                <a:solidFill>
                  <a:srgbClr val="0F172A"/>
                </a:solidFill>
              </a:rPr>
              <a:t>Public Cloud Infeasibility: </a:t>
            </a:r>
            <a:r>
              <a:rPr sz="1200">
                <a:solidFill>
                  <a:srgbClr val="334155"/>
                </a:solidFill>
              </a:rPr>
              <a:t>Offloading to public cloud adds 120ms+ latency, unpredictable network jitter, internet outage vulnerability, and intellectual property exposure.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91C1C"/>
                </a:solidFill>
              </a:rPr>
              <a:t>• </a:t>
            </a:r>
            <a:r>
              <a:rPr b="1" sz="1250">
                <a:solidFill>
                  <a:srgbClr val="0F172A"/>
                </a:solidFill>
              </a:rPr>
              <a:t>Queue Contention &amp; Starvation: </a:t>
            </a:r>
            <a:r>
              <a:rPr sz="1200">
                <a:solidFill>
                  <a:srgbClr val="334155"/>
                </a:solidFill>
              </a:rPr>
              <a:t>When multiple robots flood compute simultaneously, standard FIFO queues block critical safety tasks behind routine low-priority workloads.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B91C1C"/>
                </a:solidFill>
              </a:rPr>
              <a:t>• </a:t>
            </a:r>
            <a:r>
              <a:rPr b="1" sz="1250">
                <a:solidFill>
                  <a:srgbClr val="0F172A"/>
                </a:solidFill>
              </a:rPr>
              <a:t>Safety-Critical Deadlines: </a:t>
            </a:r>
            <a:r>
              <a:rPr sz="1200">
                <a:solidFill>
                  <a:srgbClr val="334155"/>
                </a:solidFill>
              </a:rPr>
              <a:t>Hazard avoidance (e.g., human collision detection) requires guaranteed sub-50ms inference. Missing deadlines violates ISO 3691-4 industrial safety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377440"/>
            <a:ext cx="4023360" cy="1645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B91C1C"/>
                </a:solidFill>
              </a:defRPr>
            </a:pPr>
            <a:r>
              <a:t>Core Challenge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Securely process heterogeneous robot AI requests with deterministic sub-50ms latency while guaranteeing zero task drops during worker failures or bandwidth congestion.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06240"/>
            <a:ext cx="402336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1D4ED8"/>
                </a:solidFill>
              </a:defRPr>
            </a:pPr>
            <a:r>
              <a:t>Target Use Cases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Smart Warehouses &amp; Automated Guided Vehicles (AGVs)</a:t>
            </a:r>
            <a:br/>
            <a:r>
              <a:t>• Autonomous Mobile Robots (AMRs) in Shared Spaces</a:t>
            </a:r>
            <a:br/>
            <a:r>
              <a:t>• Aerial Industrial Inspection Drones &amp; Facility Sweepers</a:t>
            </a:r>
            <a:br/>
            <a:r>
              <a:t>• High-Precision Manufacturing &amp; Robotic Arm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Objective: Guarantee safety-critical compute priority with zero cloud egress &amp; deterministic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RoboNexus Private AI Cloud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A private, on-premise AI orchestration platform where heterogeneous robot fleets securely offload vision and inference tasks to local, prioritized edge workers.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06040"/>
            <a:ext cx="2011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🤖 Robot Fleets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AGVs • Drones • Sweepers</a:t>
            </a:r>
            <a:br/>
            <a:r>
              <a:t>Real-time JPEG + Telemetry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33472" y="3063240"/>
            <a:ext cx="146304" cy="22860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2606040"/>
            <a:ext cx="2011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🛡️ Secure Gateway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FastAPI Token Auth</a:t>
            </a:r>
            <a:br/>
            <a:r>
              <a:t>Non-blocking Async Ingress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3063240"/>
            <a:ext cx="146304" cy="22860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0056" y="26060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B91C1C"/>
                </a:solidFill>
              </a:defRPr>
            </a:pPr>
            <a:r>
              <a:t>⚡ RADS Scheduler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Risk-Aware Priority Scoring</a:t>
            </a:r>
            <a:br/>
            <a:r>
              <a:t>Redis Sorted Sets (ZSET)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9168" y="3063240"/>
            <a:ext cx="146304" cy="22860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32904" y="2606040"/>
            <a:ext cx="2011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🧠 Elastic AI Workers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Ultralytics YOLOv8</a:t>
            </a:r>
            <a:br/>
            <a:r>
              <a:t>Parallel Concurrency Pool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72016" y="3063240"/>
            <a:ext cx="146304" cy="228600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45752" y="2606040"/>
            <a:ext cx="2011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📊 Mission Control &amp; S3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2D Digital Twin Canvas</a:t>
            </a:r>
            <a:br/>
            <a:r>
              <a:t>ISO 3691-4 Black-Box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14800"/>
            <a:ext cx="25786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150" b="1">
                <a:solidFill>
                  <a:srgbClr val="B91C1C"/>
                </a:solidFill>
              </a:defRPr>
            </a:pPr>
            <a:r>
              <a:t>Shared Private AI Compute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Centralized on-premise GPU/CPU workers slash individual robot hardware costs by 60% and conserve onboard battery.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4114800"/>
            <a:ext cx="25786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150" b="1">
                <a:solidFill>
                  <a:srgbClr val="B91C1C"/>
                </a:solidFill>
              </a:defRPr>
            </a:pPr>
            <a:r>
              <a:t>RADS Dynamic Pre-emption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Safety-critical human collision tasks instantly leapfrog low-priority routine frames in the queue.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4114800"/>
            <a:ext cx="25786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150" b="1">
                <a:solidFill>
                  <a:srgbClr val="B91C1C"/>
                </a:solidFill>
              </a:defRPr>
            </a:pPr>
            <a:r>
              <a:t>Fault-Tolerant Worker Leasing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Continuous heartbeat monitoring with 5s TTL guarantees orphaned tasks are auto-reassigned without frame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4114800"/>
            <a:ext cx="2578608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150" b="1">
                <a:solidFill>
                  <a:srgbClr val="B91C1C"/>
                </a:solidFill>
              </a:defRPr>
            </a:pPr>
            <a:r>
              <a:t>ISO 3691-4 Archiving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Full black-box forensic telemetry uploaded to local S3/MinIO for audit trails and safety certification.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Key Outcome: Deterministic sub-50ms safety inference + 100% private on-premise fleet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Engineering Objectives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Enable autonomous robot fleets to access AI securely and deterministically via private cloud, maintaining ultra-low latency, priority guarantees, and fault tolerance.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2578608" cy="3337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B91C1C"/>
                </a:solidFill>
              </a:defRPr>
            </a:pPr>
            <a:r>
              <a:t>Security &amp; Privacy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Zero Cloud Egress: </a:t>
            </a:r>
            <a:r>
              <a:rPr sz="1050">
                <a:solidFill>
                  <a:srgbClr val="334155"/>
                </a:solidFill>
              </a:rPr>
              <a:t>All video streams &amp; telemetry stay air-gapped on-premise.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Tokenized Auth: </a:t>
            </a:r>
            <a:r>
              <a:rPr sz="1050">
                <a:solidFill>
                  <a:srgbClr val="334155"/>
                </a:solidFill>
              </a:rPr>
              <a:t>Per-robot bearer tokens validate every frame at the gateway.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Tamper-Proof Audit: </a:t>
            </a:r>
            <a:r>
              <a:rPr sz="1050">
                <a:solidFill>
                  <a:srgbClr val="334155"/>
                </a:solidFill>
              </a:rPr>
              <a:t>Forensic S3 black-box logs comply with ISO 3691-4 safety laws.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514600"/>
            <a:ext cx="2578608" cy="3337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D4ED8"/>
                </a:solidFill>
              </a:defRPr>
            </a:pPr>
            <a:r>
              <a:t>Deterministic Latency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D4ED8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Local LAN Routing: </a:t>
            </a:r>
            <a:r>
              <a:rPr sz="1050">
                <a:solidFill>
                  <a:srgbClr val="334155"/>
                </a:solidFill>
              </a:rPr>
              <a:t>Replaces 120ms internet roundtrip with sub-5ms network ping.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D4ED8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Pre-warmed AI Models: </a:t>
            </a:r>
            <a:r>
              <a:rPr sz="1050">
                <a:solidFill>
                  <a:srgbClr val="334155"/>
                </a:solidFill>
              </a:rPr>
              <a:t>Zero cold-start delay for Ultralytics YOLOv8 inference.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D4ED8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Sub-50ms Total SLA: </a:t>
            </a:r>
            <a:r>
              <a:rPr sz="1050">
                <a:solidFill>
                  <a:srgbClr val="334155"/>
                </a:solidFill>
              </a:rPr>
              <a:t>Capture-to-actuation cycle meets emergency braking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2514600"/>
            <a:ext cx="2578608" cy="333756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RADS Scheduling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45309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Risk-Driven Priority: </a:t>
            </a:r>
            <a:r>
              <a:rPr sz="1050">
                <a:solidFill>
                  <a:srgbClr val="334155"/>
                </a:solidFill>
              </a:rPr>
              <a:t>Scores compute based on robot speed, proximity &amp; deadline.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45309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Leapfrog Dispatch: </a:t>
            </a:r>
            <a:r>
              <a:rPr sz="1050">
                <a:solidFill>
                  <a:srgbClr val="334155"/>
                </a:solidFill>
              </a:rPr>
              <a:t>Emergency obstacle frames jump ahead of 100+ routine tasks.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B45309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Fleet SLA Tiers: </a:t>
            </a:r>
            <a:r>
              <a:rPr sz="1050">
                <a:solidFill>
                  <a:srgbClr val="334155"/>
                </a:solidFill>
              </a:rPr>
              <a:t>Guaranteed bandwidth quotas for AGVs vs Drones vs Sweepers.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2514600"/>
            <a:ext cx="2578608" cy="3337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66534"/>
                </a:solidFill>
              </a:defRPr>
            </a:pPr>
            <a:r>
              <a:t>High Availability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66534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Heartbeat Leasing: </a:t>
            </a:r>
            <a:r>
              <a:rPr sz="1050">
                <a:solidFill>
                  <a:srgbClr val="334155"/>
                </a:solidFill>
              </a:rPr>
              <a:t>Active workers refresh 5s TTL lease; dead nodes detected instantly.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66534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Zero Frame Drop: </a:t>
            </a:r>
            <a:r>
              <a:rPr sz="1050">
                <a:solidFill>
                  <a:srgbClr val="334155"/>
                </a:solidFill>
              </a:rPr>
              <a:t>Unacknowledged frames immediately re-enqueued at index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66534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KEDA Autoscaling: </a:t>
            </a:r>
            <a:r>
              <a:rPr sz="1050">
                <a:solidFill>
                  <a:srgbClr val="334155"/>
                </a:solidFill>
              </a:rPr>
              <a:t>Dynamically scales worker replicas from queue backlog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Success Metric: Safety-critical robot requests get compute first under 300% resource congestion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System Methodology &amp; Technical Pipeline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Five-tier architectural methodology engineered for high-concurrency, low-latency industrial robotic fleets.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438912" cy="43891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514600"/>
            <a:ext cx="1040587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150">
                <a:solidFill>
                  <a:srgbClr val="B91C1C"/>
                </a:solidFill>
              </a:rPr>
              <a:t>Fleet Simulation &amp; Ingress: </a:t>
            </a:r>
            <a:r>
              <a:rPr sz="1050">
                <a:solidFill>
                  <a:srgbClr val="334155"/>
                </a:solidFill>
              </a:rPr>
              <a:t>Multi-threaded client generator simulates heterogeneous robots (AGV-01, Drone-02, Sweeper-03) streaming camera frames with dynamic velocity, battery levels, and deadline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91256"/>
            <a:ext cx="438912" cy="43891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191256"/>
            <a:ext cx="1040587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150">
                <a:solidFill>
                  <a:srgbClr val="B91C1C"/>
                </a:solidFill>
              </a:rPr>
              <a:t>Secure High-Throughput Gateway: </a:t>
            </a:r>
            <a:r>
              <a:rPr sz="1050">
                <a:solidFill>
                  <a:srgbClr val="334155"/>
                </a:solidFill>
              </a:rPr>
              <a:t>FastAPI non-blocking asynchronous gateway authenticates robot bearer tokens, unpacks JSON/Protobuf payloads, and ingests tasks into memory in sub-millisecond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67912"/>
            <a:ext cx="438912" cy="43891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867912"/>
            <a:ext cx="1040587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150">
                <a:solidFill>
                  <a:srgbClr val="B91C1C"/>
                </a:solidFill>
              </a:rPr>
              <a:t>RADS Mathematical Scheduling: </a:t>
            </a:r>
            <a:r>
              <a:rPr sz="1050">
                <a:solidFill>
                  <a:srgbClr val="334155"/>
                </a:solidFill>
              </a:rPr>
              <a:t>Dynamic scoring algorithm evaluates hazard criticality, deadline deficit, queue wait time, and tenant SLA weights, pushing tasks into Redis Sorted Sets (ZSET) with O(log N)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544568"/>
            <a:ext cx="438912" cy="43891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544568"/>
            <a:ext cx="1040587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150">
                <a:solidFill>
                  <a:srgbClr val="B91C1C"/>
                </a:solidFill>
              </a:rPr>
              <a:t>Distributed AI Worker Execution: </a:t>
            </a:r>
            <a:r>
              <a:rPr sz="1050">
                <a:solidFill>
                  <a:srgbClr val="334155"/>
                </a:solidFill>
              </a:rPr>
              <a:t>Concurrent worker pool leases high-priority tasks, executes pre-warmed YOLOv8 object detection, generates bounding boxes &amp; hazard flags, and publishes results via Redis Pub/Sub.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221224"/>
            <a:ext cx="438912" cy="43891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5221224"/>
            <a:ext cx="1040587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b="1" sz="1150">
                <a:solidFill>
                  <a:srgbClr val="B91C1C"/>
                </a:solidFill>
              </a:rPr>
              <a:t>Mission Control &amp; S3 Incident Recovery: </a:t>
            </a:r>
            <a:r>
              <a:rPr sz="1050">
                <a:solidFill>
                  <a:srgbClr val="334155"/>
                </a:solidFill>
              </a:rPr>
              <a:t>Streamlit dashboard displays a 2D Warehouse Digital Twin, live queue latency gauges, and worker kill-switches, while near-miss frames are archived to local S3 for ISO 3691-4 safety audits.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Architecture Advantage: Decoupled microservices architecture enables linear scale to 100,000+ robots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End-to-End Operational Workflow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Step-by-step frame lifecycle from robotic camera capture to safety actuation and ISO-compliant archiving.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1. Robot Request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Camera captures frame;</a:t>
            </a:r>
            <a:br/>
            <a:r>
              <a:t>tags velocity &amp; deadline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76856" y="2880360"/>
            <a:ext cx="128016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41448" y="246888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2. Gateway Ingress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Validates bearer token;</a:t>
            </a:r>
            <a:br/>
            <a:r>
              <a:t>parses payload in &lt;2ms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3944" y="2880360"/>
            <a:ext cx="128016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8536" y="2468880"/>
            <a:ext cx="1645920" cy="1188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B91C1C"/>
                </a:solidFill>
              </a:defRPr>
            </a:pPr>
            <a:r>
              <a:t>3. RADS Scoring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Computes risk score;</a:t>
            </a:r>
            <a:br/>
            <a:r>
              <a:t>evaluates hazard level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71032" y="2880360"/>
            <a:ext cx="128016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35624" y="2468880"/>
            <a:ext cx="1645920" cy="1188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B91C1C"/>
                </a:solidFill>
              </a:defRPr>
            </a:pPr>
            <a:r>
              <a:t>4. Priority Queue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Redis ZSET sorts score;</a:t>
            </a:r>
            <a:br/>
            <a:r>
              <a:t>urgent task jumps index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2880360"/>
            <a:ext cx="128016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82712" y="246888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5. Worker Inference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YOLOv8 detects objects;</a:t>
            </a:r>
            <a:br/>
            <a:r>
              <a:t>extracts human hazards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65208" y="2880360"/>
            <a:ext cx="128016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2468880"/>
            <a:ext cx="16459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6. Actuate &amp; Archive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Returns brake signal;</a:t>
            </a:r>
            <a:br/>
            <a:r>
              <a:t>logs audit trail to 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31920"/>
            <a:ext cx="1100023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600"/>
              </a:spcAft>
              <a:defRPr sz="1350" b="1">
                <a:solidFill>
                  <a:srgbClr val="B91C1C"/>
                </a:solidFill>
              </a:defRPr>
            </a:pPr>
            <a:r>
              <a:t>Live Industrial Edge Scenario: Dynamic Queue Pre-emption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B91C1C"/>
                </a:solidFill>
              </a:rPr>
              <a:t>⚡ </a:t>
            </a:r>
            <a:r>
              <a:rPr b="1" sz="1100">
                <a:solidFill>
                  <a:srgbClr val="0F172A"/>
                </a:solidFill>
              </a:rPr>
              <a:t>Background Congestion: </a:t>
            </a:r>
            <a:r>
              <a:rPr sz="1050">
                <a:solidFill>
                  <a:srgbClr val="334155"/>
                </a:solidFill>
              </a:rPr>
              <a:t>Robots flood queue with 40 low-priority inspection frames (Floor Cleaning Sweeper, Barcode Drones; deadline = 3,000ms, Score = 15-25).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B91C1C"/>
                </a:solidFill>
              </a:rPr>
              <a:t>⚡ </a:t>
            </a:r>
            <a:r>
              <a:rPr b="1" sz="1100">
                <a:solidFill>
                  <a:srgbClr val="0F172A"/>
                </a:solidFill>
              </a:rPr>
              <a:t>Safety-Critical Arrival: </a:t>
            </a:r>
            <a:r>
              <a:rPr sz="1050">
                <a:solidFill>
                  <a:srgbClr val="334155"/>
                </a:solidFill>
              </a:rPr>
              <a:t>Autonomous AGV-01 detects a warehouse worker crossing blind corner at 3.5 m/s (Human Hazard = 1.0, deadline = 120ms).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B91C1C"/>
                </a:solidFill>
              </a:rPr>
              <a:t>⚡ </a:t>
            </a:r>
            <a:r>
              <a:rPr b="1" sz="1100">
                <a:solidFill>
                  <a:srgbClr val="0F172A"/>
                </a:solidFill>
              </a:rPr>
              <a:t>Instant Queue Re-order: </a:t>
            </a:r>
            <a:r>
              <a:rPr sz="1050">
                <a:solidFill>
                  <a:srgbClr val="334155"/>
                </a:solidFill>
              </a:rPr>
              <a:t>RADS engine evaluates parameters in 0.4ms, generates Score = 98.6, and pushes task directly to index #0 ahead of all 40 queued frames.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B91C1C"/>
                </a:solidFill>
              </a:rPr>
              <a:t>⚡ </a:t>
            </a:r>
            <a:r>
              <a:rPr b="1" sz="1100">
                <a:solidFill>
                  <a:srgbClr val="0F172A"/>
                </a:solidFill>
              </a:rPr>
              <a:t>Deterministic Safety Response: </a:t>
            </a:r>
            <a:r>
              <a:rPr sz="1050">
                <a:solidFill>
                  <a:srgbClr val="334155"/>
                </a:solidFill>
              </a:rPr>
              <a:t>Worker executes YOLOv8 detection in 22ms, identifies pedestrian with 92% confidence, and returns immediate E-STOP command to AGV.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Normal Load → Critical Request Arrival → RADS Queue Re-order → Sub-50ms Low-Latency Safety Actuation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310896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Decoupled 4-Tier Microservices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Zero-dependency on-premise cloud infrastructure designed for horizontal scale and high availability.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2578608" cy="3337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D4ED8"/>
                </a:solidFill>
              </a:defRPr>
            </a:pPr>
            <a:r>
              <a:t>Tier 1: Robotic Ingress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Heterogeneous fleet: AGVs, Drones, Sweepers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Multi-tenant protocol: REST &amp; WebSockets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Protobuf / JSON frame serialization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Per-robot bearer authentication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514600"/>
            <a:ext cx="2578608" cy="3337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B91C1C"/>
                </a:solidFill>
              </a:defRPr>
            </a:pPr>
            <a:r>
              <a:t>Tier 2: Edge Gateway &amp; RADS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FastAPI non-blocking async ingress gateway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RADS Dynamic Priority Evaluation Engine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Rate-limiting &amp; tenant SLA enforcement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Prometheus latency &amp; RPS telemetry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2514600"/>
            <a:ext cx="2578608" cy="333756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B45309"/>
                </a:solidFill>
              </a:defRPr>
            </a:pPr>
            <a:r>
              <a:t>Tier 3: Distributed State &amp; Queue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Redis 7 in-memory Sorted Sets (ZSET)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Sub-millisecond atomic queue push &amp; pop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Worker Heartbeat Registry (5s TTL leases)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In-flight task lease tracking &amp; dead-letter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2514600"/>
            <a:ext cx="2578608" cy="3337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66534"/>
                </a:solidFill>
              </a:defRPr>
            </a:pPr>
            <a:r>
              <a:t>Tier 4: Compute &amp; Mission Control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Scalable YOLOv8 object detection worker pool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KEDA-style queue-lag horizontal autoscaling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Streamlit 2D Warehouse Digital Twin Dashboard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Local S3 (MinIO) ISO 3691-4 Black-Box Archiving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Failure Manager: 5s Heartbeat Miss → Worker Declared Unhealthy → Unfinished Frame Auto-Requeued to 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29260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Full-Stack Implementation &amp; Validation Matrix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Enterprise-grade technology choices validated across edge hardware, network contention, and worker crashes.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468880"/>
          <a:ext cx="6217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</a:tblGrid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Edge API Gateway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FastAPI (Asynchronous, Non-blocking REST &amp; WebSockets)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In-Memory Queue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Redis 7 (Sorted Sets `ZSET` + Atomic Pipelines + PubSub)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Computer Vision Core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Ultralytics YOLOv8 (Pre-warmed PyTorch, TensorRT ready)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Priority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RADS Engine (Risk, Deadline, Velocity, SLA Tier Scoring)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Mission Control Suite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Streamlit Real-Time Dashboard + 2D Warehouse Digital Twin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Safety Incident Archive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Local S3 / MinIO (ISO 3691-4 Black-Box Compliance)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91C1C"/>
                          </a:solidFill>
                        </a:defRPr>
                      </a:pPr>
                      <a:r>
                        <a:t>Deployment &amp; Scaling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Docker Compose + Kubernetes Manifests + KEDA Autoscaler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86600" y="2468880"/>
            <a:ext cx="4526280" cy="1645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B91C1C"/>
                </a:solidFill>
              </a:defRPr>
            </a:pPr>
            <a:r>
              <a:t>Implemented Production Capabilities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Sub-millisecond priority insertion via Redis Sorted Sets</a:t>
            </a:r>
            <a:br/>
            <a:r>
              <a:t>• Dynamic Multi-Tenant SLA contracts (AGV, Drone, Sweeper)</a:t>
            </a:r>
            <a:br/>
            <a:r>
              <a:t>• KEDA-style elastic horizontal autoscaling (0 → N workers)</a:t>
            </a:r>
            <a:br/>
            <a:r>
              <a:t>• Zero frame loss guarantee with automated lease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4206240"/>
            <a:ext cx="452628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1D4ED8"/>
                </a:solidFill>
              </a:defRPr>
            </a:pPr>
            <a:r>
              <a:t>Live Demonstration Scenarios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1. Multi-Robot Concurrent Stream Storm (50+ RPS Load)</a:t>
            </a:r>
            <a:br/>
            <a:r>
              <a:t>2. Emergency Human Obstacle Frame Queue Leapfrogging</a:t>
            </a:r>
            <a:br/>
            <a:r>
              <a:t>3. Worker Crash Kill-Switch &amp; Automatic Task Reassignment</a:t>
            </a:r>
            <a:br/>
            <a:r>
              <a:t>4. ISO 3691-4 Black-Box Incident Report Export from S3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Implementation Scope: Fully Decoupled Microservices, Live 2D Digital Twin, Benchmarked under 300% 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347472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Novelty: Robotics-Aware Deadline Scheduler (RADS)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Traditional FIFO queues treat all frames equally. RADS allocates compute based on physical-world safety consequences.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11000232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Priority Score =  w_c · Hazard_Criticality  +  w_d · (1000 / Deadline_ms)  +  w_w · Wait_Time  +  w_s · Tenant_SLA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Weights dynamically tuned for industrial robotics: Hazard (45%) • Deadline Urgency (30%) • Wait Time (15%) • Fleet SLA (10%)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429000"/>
            <a:ext cx="3474720" cy="24688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D4ED8"/>
                </a:solidFill>
              </a:defRPr>
            </a:pPr>
            <a:r>
              <a:t>Tier 3: Routine Sweeper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Task Type: </a:t>
            </a:r>
            <a:r>
              <a:rPr sz="1050" b="0">
                <a:solidFill>
                  <a:srgbClr val="334155"/>
                </a:solidFill>
              </a:rPr>
              <a:t>Debris &amp; Floor Obstacle Scan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Robot Speed: </a:t>
            </a:r>
            <a:r>
              <a:rPr sz="1050" b="0">
                <a:solidFill>
                  <a:srgbClr val="334155"/>
                </a:solidFill>
              </a:rPr>
              <a:t>0.5 m/s (Low Momentum)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Deadline Window: </a:t>
            </a:r>
            <a:r>
              <a:rPr sz="1050" b="0">
                <a:solidFill>
                  <a:srgbClr val="334155"/>
                </a:solidFill>
              </a:rPr>
              <a:t>3,500 ms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RADS Score: </a:t>
            </a:r>
            <a:r>
              <a:rPr sz="1050" b="0">
                <a:solidFill>
                  <a:srgbClr val="334155"/>
                </a:solidFill>
              </a:rPr>
              <a:t>18.4 (Background Priority)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Queue Handling: </a:t>
            </a:r>
            <a:r>
              <a:rPr sz="1050" b="0">
                <a:solidFill>
                  <a:srgbClr val="334155"/>
                </a:solidFill>
              </a:rPr>
              <a:t>Waits for idle compute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3429000"/>
            <a:ext cx="3474720" cy="246888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B45309"/>
                </a:solidFill>
              </a:defRPr>
            </a:pPr>
            <a:r>
              <a:t>Tier 2: Inspection Drone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Task Type: </a:t>
            </a:r>
            <a:r>
              <a:rPr sz="1050" b="0">
                <a:solidFill>
                  <a:srgbClr val="334155"/>
                </a:solidFill>
              </a:rPr>
              <a:t>High-Rack Inventory Barcode Scan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Robot Speed: </a:t>
            </a:r>
            <a:r>
              <a:rPr sz="1050" b="0">
                <a:solidFill>
                  <a:srgbClr val="334155"/>
                </a:solidFill>
              </a:rPr>
              <a:t>2.0 m/s (Medium Momentum)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Deadline Window: </a:t>
            </a:r>
            <a:r>
              <a:rPr sz="1050" b="0">
                <a:solidFill>
                  <a:srgbClr val="334155"/>
                </a:solidFill>
              </a:rPr>
              <a:t>1,000 ms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RADS Score: </a:t>
            </a:r>
            <a:r>
              <a:rPr sz="1050" b="0">
                <a:solidFill>
                  <a:srgbClr val="334155"/>
                </a:solidFill>
              </a:rPr>
              <a:t>46.2 (Standard Priority)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Queue Handling: </a:t>
            </a:r>
            <a:r>
              <a:rPr sz="1050" b="0">
                <a:solidFill>
                  <a:srgbClr val="334155"/>
                </a:solidFill>
              </a:rPr>
              <a:t>Fair-share round-robin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7" y="3429000"/>
            <a:ext cx="3474720" cy="24688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B91C1C"/>
                </a:solidFill>
              </a:defRPr>
            </a:pPr>
            <a:r>
              <a:t>Tier 1: Safety-Critical AGV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Task Type: </a:t>
            </a:r>
            <a:r>
              <a:rPr sz="1050" b="0">
                <a:solidFill>
                  <a:srgbClr val="334155"/>
                </a:solidFill>
              </a:rPr>
              <a:t>Pedestrian Collision Risk on Aisle 4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Robot Speed: </a:t>
            </a:r>
            <a:r>
              <a:rPr sz="1050" b="0">
                <a:solidFill>
                  <a:srgbClr val="334155"/>
                </a:solidFill>
              </a:rPr>
              <a:t>3.5 m/s (High Momentum AMR)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Deadline Window: </a:t>
            </a:r>
            <a:r>
              <a:rPr sz="1050" b="0">
                <a:solidFill>
                  <a:srgbClr val="334155"/>
                </a:solidFill>
              </a:rPr>
              <a:t>120 ms (Braking Threshold)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RADS Score: </a:t>
            </a:r>
            <a:r>
              <a:rPr sz="1050" b="0">
                <a:solidFill>
                  <a:srgbClr val="334155"/>
                </a:solidFill>
              </a:rPr>
              <a:t>98.7 (CRITICAL EMERGENCY)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Queue Handling: </a:t>
            </a:r>
            <a:r>
              <a:rPr sz="1050" b="1">
                <a:solidFill>
                  <a:srgbClr val="B91C1C"/>
                </a:solidFill>
              </a:rPr>
              <a:t>LEAPFROGS TO INDEX #0 IMMEDIATELY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Key Scientific Novelty: AI compute scheduling is directly coupled to physical robot kinetic momentum and collision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2471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243584"/>
            <a:ext cx="3840480" cy="384048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DEMONSTRATION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Demonstration Output &amp; Judging Strengths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</a:defRPr>
            </a:pPr>
            <a:r>
              <a:t>Live interactive validation of prioritized AI inference, worker failure recovery, and 2D digital twin operations.</a:t>
            </a:r>
          </a:p>
        </p:txBody>
      </p:sp>
      <p:pic>
        <p:nvPicPr>
          <p:cNvPr id="5" name="Picture 4" descr="robot_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2194560" cy="4532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22402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Multi-Robot Concurrent Streams: </a:t>
            </a:r>
            <a:r>
              <a:rPr sz="1050">
                <a:solidFill>
                  <a:srgbClr val="334155"/>
                </a:solidFill>
              </a:rPr>
              <a:t>3+ simulated heterogeneous robots (AGV, Drone, Sweeper) stream frames concurrently without packet drop.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Instant Queue Leapfrogging: </a:t>
            </a:r>
            <a:r>
              <a:rPr sz="1050">
                <a:solidFill>
                  <a:srgbClr val="334155"/>
                </a:solidFill>
              </a:rPr>
              <a:t>Critical human detection frame visibly jumps to position #1 on live telemetry, bypassing 40+ waiting tasks.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Live 2D Digital Twin Canvas: </a:t>
            </a:r>
            <a:r>
              <a:rPr sz="1050">
                <a:solidFill>
                  <a:srgbClr val="334155"/>
                </a:solidFill>
              </a:rPr>
              <a:t>Streamlit dashboard displays real-time robot positions, aisle waypoints, and latency radar in real-time.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Fault-Tolerant Worker Recovery: </a:t>
            </a:r>
            <a:r>
              <a:rPr sz="1050">
                <a:solidFill>
                  <a:srgbClr val="334155"/>
                </a:solidFill>
              </a:rPr>
              <a:t>Simulated worker kill-switch demonstrates instant 5s heartbeat detection and zero-loss frame reassignment.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91C1C"/>
                </a:solidFill>
              </a:rPr>
              <a:t>✓ </a:t>
            </a:r>
            <a:r>
              <a:rPr b="1" sz="1100">
                <a:solidFill>
                  <a:srgbClr val="0F172A"/>
                </a:solidFill>
              </a:rPr>
              <a:t>ISO 3691-4 S3 Incident Audit: </a:t>
            </a:r>
            <a:r>
              <a:rPr sz="1050">
                <a:solidFill>
                  <a:srgbClr val="334155"/>
                </a:solidFill>
              </a:rPr>
              <a:t>Near-miss event automatically packages telemetry, bounding boxes &amp; JPEG frame into S3 with one-click forensic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240280"/>
            <a:ext cx="4023360" cy="1691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B91C1C"/>
                </a:solidFill>
              </a:defRPr>
            </a:pPr>
            <a:r>
              <a:t>Final Executive Pitch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RoboNexus delivers deterministic, cloud-grade AI compute directly inside industrial facilities—safeguarding human workers, eliminating cloud latency, and cutting robot fleet hardware costs by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114800"/>
            <a:ext cx="4023360" cy="1783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1D4ED8"/>
                </a:solidFill>
              </a:defRPr>
            </a:pPr>
            <a:r>
              <a:t>Hackathon Judging Strengths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Algorithmic Innovation: RADS physical-context scheduler</a:t>
            </a:r>
            <a:br/>
            <a:r>
              <a:t>• Architectural Rigor: Decoupled 4-tier microservices</a:t>
            </a:r>
            <a:br/>
            <a:r>
              <a:t>• Industrial Compliance: ISO 3691-4 black-box audit trails</a:t>
            </a:r>
            <a:br/>
            <a:r>
              <a:t>• Live Production Readiness: 100% functional live test rig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YHACK'26 Review: Fully Operational Private AI Cloud • Live Demonstration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